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262" r:id="rId3"/>
    <p:sldId id="707" r:id="rId4"/>
    <p:sldId id="257" r:id="rId5"/>
    <p:sldId id="903" r:id="rId6"/>
    <p:sldId id="902" r:id="rId7"/>
    <p:sldId id="258" r:id="rId8"/>
    <p:sldId id="259" r:id="rId9"/>
    <p:sldId id="904"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422ACE-AC43-48BD-A46A-A54E9AAC5D60}" v="5" dt="2026-09-24T08:24:10.4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49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ush P" userId="56329a40d34d80c2" providerId="LiveId" clId="{1F43D42F-BA7A-47E2-9ABC-88BEB8B02009}"/>
    <pc:docChg chg="undo custSel addSld modSld">
      <pc:chgData name="Dhanush P" userId="56329a40d34d80c2" providerId="LiveId" clId="{1F43D42F-BA7A-47E2-9ABC-88BEB8B02009}" dt="2026-09-24T08:28:30.459" v="331" actId="20577"/>
      <pc:docMkLst>
        <pc:docMk/>
      </pc:docMkLst>
      <pc:sldChg chg="addSp modSp mod">
        <pc:chgData name="Dhanush P" userId="56329a40d34d80c2" providerId="LiveId" clId="{1F43D42F-BA7A-47E2-9ABC-88BEB8B02009}" dt="2026-09-24T08:18:03.085" v="234" actId="20577"/>
        <pc:sldMkLst>
          <pc:docMk/>
          <pc:sldMk cId="3524135319" sldId="259"/>
        </pc:sldMkLst>
        <pc:spChg chg="mod">
          <ac:chgData name="Dhanush P" userId="56329a40d34d80c2" providerId="LiveId" clId="{1F43D42F-BA7A-47E2-9ABC-88BEB8B02009}" dt="2026-09-24T08:18:03.085" v="234" actId="20577"/>
          <ac:spMkLst>
            <pc:docMk/>
            <pc:sldMk cId="3524135319" sldId="259"/>
            <ac:spMk id="5" creationId="{D4387226-F29E-0041-5581-4EF07C7198F1}"/>
          </ac:spMkLst>
        </pc:spChg>
      </pc:sldChg>
      <pc:sldChg chg="modSp mod">
        <pc:chgData name="Dhanush P" userId="56329a40d34d80c2" providerId="LiveId" clId="{1F43D42F-BA7A-47E2-9ABC-88BEB8B02009}" dt="2026-09-24T08:28:30.459" v="331" actId="20577"/>
        <pc:sldMkLst>
          <pc:docMk/>
          <pc:sldMk cId="2247602601" sldId="262"/>
        </pc:sldMkLst>
        <pc:spChg chg="mod">
          <ac:chgData name="Dhanush P" userId="56329a40d34d80c2" providerId="LiveId" clId="{1F43D42F-BA7A-47E2-9ABC-88BEB8B02009}" dt="2026-09-24T08:28:23.951" v="329" actId="20577"/>
          <ac:spMkLst>
            <pc:docMk/>
            <pc:sldMk cId="2247602601" sldId="262"/>
            <ac:spMk id="17" creationId="{D25BC1A0-FDE4-1557-375E-6E0BD69BC77B}"/>
          </ac:spMkLst>
        </pc:spChg>
        <pc:spChg chg="mod">
          <ac:chgData name="Dhanush P" userId="56329a40d34d80c2" providerId="LiveId" clId="{1F43D42F-BA7A-47E2-9ABC-88BEB8B02009}" dt="2026-09-24T08:28:30.459" v="331" actId="20577"/>
          <ac:spMkLst>
            <pc:docMk/>
            <pc:sldMk cId="2247602601" sldId="262"/>
            <ac:spMk id="35" creationId="{8FB49AA0-2464-6225-6B6C-063F9A6ECD20}"/>
          </ac:spMkLst>
        </pc:spChg>
      </pc:sldChg>
      <pc:sldChg chg="addSp delSp modSp add mod">
        <pc:chgData name="Dhanush P" userId="56329a40d34d80c2" providerId="LiveId" clId="{1F43D42F-BA7A-47E2-9ABC-88BEB8B02009}" dt="2026-09-24T08:25:48.407" v="327" actId="1076"/>
        <pc:sldMkLst>
          <pc:docMk/>
          <pc:sldMk cId="2229298677" sldId="904"/>
        </pc:sldMkLst>
        <pc:spChg chg="del">
          <ac:chgData name="Dhanush P" userId="56329a40d34d80c2" providerId="LiveId" clId="{1F43D42F-BA7A-47E2-9ABC-88BEB8B02009}" dt="2026-09-24T08:18:17.497" v="236" actId="478"/>
          <ac:spMkLst>
            <pc:docMk/>
            <pc:sldMk cId="2229298677" sldId="904"/>
            <ac:spMk id="2" creationId="{B0C23970-F743-1DE6-601E-60A679D75AAF}"/>
          </ac:spMkLst>
        </pc:spChg>
        <pc:spChg chg="mod">
          <ac:chgData name="Dhanush P" userId="56329a40d34d80c2" providerId="LiveId" clId="{1F43D42F-BA7A-47E2-9ABC-88BEB8B02009}" dt="2026-09-24T08:18:53.011" v="240" actId="1076"/>
          <ac:spMkLst>
            <pc:docMk/>
            <pc:sldMk cId="2229298677" sldId="904"/>
            <ac:spMk id="5" creationId="{56F375A9-E31E-C61B-7445-332F70CF208E}"/>
          </ac:spMkLst>
        </pc:spChg>
        <pc:spChg chg="add del mod">
          <ac:chgData name="Dhanush P" userId="56329a40d34d80c2" providerId="LiveId" clId="{1F43D42F-BA7A-47E2-9ABC-88BEB8B02009}" dt="2026-09-24T08:22:31.068" v="247" actId="478"/>
          <ac:spMkLst>
            <pc:docMk/>
            <pc:sldMk cId="2229298677" sldId="904"/>
            <ac:spMk id="7" creationId="{1CF1F1E3-D4F2-7027-4CCB-5E5BBB0A9587}"/>
          </ac:spMkLst>
        </pc:spChg>
        <pc:spChg chg="add del mod">
          <ac:chgData name="Dhanush P" userId="56329a40d34d80c2" providerId="LiveId" clId="{1F43D42F-BA7A-47E2-9ABC-88BEB8B02009}" dt="2026-09-24T08:25:40.086" v="326"/>
          <ac:spMkLst>
            <pc:docMk/>
            <pc:sldMk cId="2229298677" sldId="904"/>
            <ac:spMk id="8" creationId="{1C116259-D952-7726-2D74-E2FA89BF4C78}"/>
          </ac:spMkLst>
        </pc:spChg>
        <pc:graphicFrameChg chg="add mod modGraphic">
          <ac:chgData name="Dhanush P" userId="56329a40d34d80c2" providerId="LiveId" clId="{1F43D42F-BA7A-47E2-9ABC-88BEB8B02009}" dt="2026-09-24T08:25:48.407" v="327" actId="1076"/>
          <ac:graphicFrameMkLst>
            <pc:docMk/>
            <pc:sldMk cId="2229298677" sldId="904"/>
            <ac:graphicFrameMk id="9" creationId="{94960B33-482A-D859-C8EE-46DE047FAABF}"/>
          </ac:graphicFrameMkLst>
        </pc:graphicFrameChg>
        <pc:picChg chg="add del mod">
          <ac:chgData name="Dhanush P" userId="56329a40d34d80c2" providerId="LiveId" clId="{1F43D42F-BA7A-47E2-9ABC-88BEB8B02009}" dt="2026-09-24T08:19:44.769" v="241" actId="478"/>
          <ac:picMkLst>
            <pc:docMk/>
            <pc:sldMk cId="2229298677" sldId="904"/>
            <ac:picMk id="6" creationId="{331E57CE-1FD6-5CDA-5AC1-41BBFFB2C7A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24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24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24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24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24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24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24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24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24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24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24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24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790064184"/>
              </p:ext>
            </p:extLst>
          </p:nvPr>
        </p:nvGraphicFramePr>
        <p:xfrm>
          <a:off x="8193271" y="4898509"/>
          <a:ext cx="3702050" cy="100584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P Dhanush – </a:t>
                      </a:r>
                      <a:r>
                        <a:rPr lang="en-IN" sz="1400" b="1" kern="1200" dirty="0">
                          <a:solidFill>
                            <a:schemeClr val="dk1"/>
                          </a:solidFill>
                          <a:latin typeface="Times New Roman" panose="02020603050405020304" pitchFamily="18" charset="0"/>
                          <a:ea typeface="Cambria"/>
                          <a:cs typeface="Times New Roman" panose="02020603050405020304" pitchFamily="18" charset="0"/>
                        </a:rPr>
                        <a:t>2420030057</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M Rohith – 2420090147</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Ananya Sinha - 2420030776</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3731587867"/>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a:t>
            </a:r>
            <a:r>
              <a:rPr lang="en-IN" b="1"/>
              <a:t>Project Review-2</a:t>
            </a:r>
            <a:endParaRPr lang="en-IN" b="1" dirty="0"/>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954107"/>
          </a:xfrm>
          <a:prstGeom prst="rect">
            <a:avLst/>
          </a:prstGeom>
          <a:noFill/>
        </p:spPr>
        <p:txBody>
          <a:bodyPr wrap="square">
            <a:spAutoFit/>
          </a:bodyPr>
          <a:lstStyle/>
          <a:p>
            <a:pPr lvl="0" algn="ctr">
              <a:defRPr/>
            </a:pPr>
            <a:r>
              <a:rPr lang="en-IN" sz="2800" b="1" dirty="0" err="1">
                <a:solidFill>
                  <a:schemeClr val="bg1"/>
                </a:solidFill>
                <a:latin typeface="Times New Roman" panose="02020603050405020304" pitchFamily="18" charset="0"/>
                <a:cs typeface="Times New Roman" panose="02020603050405020304" pitchFamily="18" charset="0"/>
              </a:rPr>
              <a:t>CivicPulse</a:t>
            </a:r>
            <a:r>
              <a:rPr lang="en-IN" sz="2800" b="1" dirty="0">
                <a:solidFill>
                  <a:schemeClr val="bg1"/>
                </a:solidFill>
                <a:latin typeface="Times New Roman" panose="02020603050405020304" pitchFamily="18" charset="0"/>
                <a:cs typeface="Times New Roman" panose="02020603050405020304" pitchFamily="18" charset="0"/>
              </a:rPr>
              <a:t>: Intelligent Event-Driven Urban Issue Management using Secure Microservices</a:t>
            </a: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21254" y="2390739"/>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Review-2</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Ph.D. Viva Voce</a:t>
            </a: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Research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0BDA33B1-918B-6A70-AE74-608143A67231}"/>
              </a:ext>
            </a:extLst>
          </p:cNvPr>
          <p:cNvSpPr txBox="1"/>
          <p:nvPr/>
        </p:nvSpPr>
        <p:spPr>
          <a:xfrm>
            <a:off x="922867" y="2108199"/>
            <a:ext cx="10905067" cy="2862322"/>
          </a:xfrm>
          <a:prstGeom prst="rect">
            <a:avLst/>
          </a:prstGeom>
          <a:noFill/>
        </p:spPr>
        <p:txBody>
          <a:bodyPr wrap="square" rtlCol="0">
            <a:spAutoFit/>
          </a:bodyPr>
          <a:lstStyle/>
          <a:p>
            <a:r>
              <a:rPr lang="en-IN" dirty="0"/>
              <a:t>Rapid urbanization has severely strained traditional civic issue management systems, which often rely on monolithic, centralized architectures that suffer from single points of failure, poor horizontal scalability, and sluggish manual incident reporting workflows. Existing platforms frequently fail to process high-volume, concurrent user reports in real time, leading to delayed response times, duplicated effort across municipal departments, and opaque tracking for citizens. Furthermore, rigid inter-service dependencies and shared databases create critical single-failure points, while fragmented security protocols leave sensitive user data and service-to-service communications vulnerable to cyber threats. </a:t>
            </a:r>
            <a:r>
              <a:rPr lang="en-IN" dirty="0" err="1"/>
              <a:t>CivicPulse</a:t>
            </a:r>
            <a:r>
              <a:rPr lang="en-IN" dirty="0"/>
              <a:t> directly resolves these bottlenecks by delivering an event-driven, secure microservices architecture that decouples system components via real-time event streaming, streamlines dynamic routing, and  automates intelligent incident classification to ensure rapid, scalable, and resilient urban issue resolution.</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868A138B-B7DF-D838-6DC0-31AE5251BC46}"/>
              </a:ext>
            </a:extLst>
          </p:cNvPr>
          <p:cNvSpPr txBox="1"/>
          <p:nvPr/>
        </p:nvSpPr>
        <p:spPr>
          <a:xfrm>
            <a:off x="1016000" y="1913467"/>
            <a:ext cx="10236200" cy="3416320"/>
          </a:xfrm>
          <a:prstGeom prst="rect">
            <a:avLst/>
          </a:prstGeom>
          <a:noFill/>
        </p:spPr>
        <p:txBody>
          <a:bodyPr wrap="square" rtlCol="0">
            <a:spAutoFit/>
          </a:bodyPr>
          <a:lstStyle/>
          <a:p>
            <a:pPr marL="285750" lvl="0" indent="-285750">
              <a:buFont typeface="Arial" panose="020B0604020202020204" pitchFamily="34" charset="0"/>
              <a:buChar char="•"/>
            </a:pPr>
            <a:r>
              <a:rPr lang="en-IN" b="1" dirty="0"/>
              <a:t>To make this application scalable and real-time:</a:t>
            </a:r>
            <a:r>
              <a:rPr lang="en-IN" dirty="0"/>
              <a:t> Build an event-driven microservices core using Spring Boot, Spring Cloud, and Apache Kafka for decoupled message streaming.</a:t>
            </a:r>
            <a:br>
              <a:rPr lang="en-IN" dirty="0"/>
            </a:br>
            <a:endParaRPr lang="en-IN" dirty="0"/>
          </a:p>
          <a:p>
            <a:pPr marL="285750" lvl="0" indent="-285750">
              <a:buFont typeface="Arial" panose="020B0604020202020204" pitchFamily="34" charset="0"/>
              <a:buChar char="•"/>
            </a:pPr>
            <a:r>
              <a:rPr lang="en-IN" b="1" dirty="0"/>
              <a:t>To make this application secure and isolated:</a:t>
            </a:r>
            <a:r>
              <a:rPr lang="en-IN" dirty="0"/>
              <a:t> Implement centralized JWT gateway security, TLS encryption, and a database-per-service pattern.</a:t>
            </a:r>
            <a:br>
              <a:rPr lang="en-IN" dirty="0"/>
            </a:br>
            <a:endParaRPr lang="en-IN" dirty="0"/>
          </a:p>
          <a:p>
            <a:pPr marL="285750" lvl="0" indent="-285750">
              <a:buFont typeface="Arial" panose="020B0604020202020204" pitchFamily="34" charset="0"/>
              <a:buChar char="•"/>
            </a:pPr>
            <a:r>
              <a:rPr lang="en-IN" b="1" dirty="0"/>
              <a:t>To make this application intelligent and efficient:</a:t>
            </a:r>
            <a:r>
              <a:rPr lang="en-IN" dirty="0"/>
              <a:t> Automate issue categorization, deduplication, and priority routing to streamline municipal response.</a:t>
            </a:r>
            <a:br>
              <a:rPr lang="en-IN" dirty="0"/>
            </a:br>
            <a:endParaRPr lang="en-IN" dirty="0"/>
          </a:p>
          <a:p>
            <a:pPr marL="285750" lvl="0" indent="-285750">
              <a:buFont typeface="Arial" panose="020B0604020202020204" pitchFamily="34" charset="0"/>
              <a:buChar char="•"/>
            </a:pPr>
            <a:r>
              <a:rPr lang="en-IN" b="1" dirty="0"/>
              <a:t>To make this application reliable and production-ready:</a:t>
            </a:r>
            <a:r>
              <a:rPr lang="en-IN" dirty="0"/>
              <a:t> Ensure system stability using comprehensive automated testing and continuous GitHub Actions CI/CD pipelines.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1821330971"/>
              </p:ext>
            </p:extLst>
          </p:nvPr>
        </p:nvGraphicFramePr>
        <p:xfrm>
          <a:off x="274646" y="689466"/>
          <a:ext cx="11642705" cy="46730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dirty="0" err="1"/>
                        <a:t>Gbenle</a:t>
                      </a:r>
                      <a:r>
                        <a:rPr lang="en-IN" sz="1400" dirty="0"/>
                        <a:t> et al.</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A Conceptual Model for Scalable and Fault-Tolerant Cloud-Native Architectures for Emergency Response Systems</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Event-Driven Architecture (EDA), Microservices Decomposition, Containerization (Docker/Kubernetes), and Stream Processing.</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Demonstrates that decoupling critical services prevents single points of failure, vastly improving system uptime and operational elasticity during traffic spikes.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High operational complexity; future work includes implementing dynamic auto-scaling policies and automated failover recovery mechanisms.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err="1"/>
                        <a:t>AirQo</a:t>
                      </a:r>
                      <a:r>
                        <a:rPr lang="en-IN" sz="1400" dirty="0"/>
                        <a:t> Team (</a:t>
                      </a:r>
                      <a:r>
                        <a:rPr lang="en-IN" sz="1400" dirty="0" err="1"/>
                        <a:t>Sserujongi</a:t>
                      </a:r>
                      <a:r>
                        <a:rPr lang="en-IN" sz="1400" dirty="0"/>
                        <a:t> et al.)</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Design and Evaluation of a Scalable Data Pipeline for AI-Driven Air Quality Monitoring</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Microservices Architecture, Apache Kafka event streaming, Apache Airflow orchestration, and ML-driven data calibration models.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Proves that asynchronous, Kafka-driven message queues allow high-volume IoT and civic data pipelines to process real-time and batch workflows without system bottlenecks.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Relies heavily on high-bandwidth network connectivity; future research focuses on edge computing to handle intermittent network dropouts.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err="1"/>
                        <a:t>Grenze</a:t>
                      </a:r>
                      <a:r>
                        <a:rPr lang="en-IN" sz="1400" dirty="0"/>
                        <a:t> Research Group</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Smart Civic Issue Reporting System</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Convolutional Neural Networks (CNN) for image recognition, GPS geo-tagging, and automated micro-routing algorithms.</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Confirms that AI-assisted incident categorization (e.g., automatically identifying potholes or garbage dumps) reduces human effort and speeds up municipal response times.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Lacks advanced cross-service security mechanisms; future developments involve adding OAuth2/JWT edge authentication and distributed tracing.</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r>
              <a:rPr lang="en-IN"/>
              <a:t>Ph.D. Viva Voce</a:t>
            </a: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Research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4DCE7D75-0E6F-621C-C6B0-B3FD1AEC8EDE}"/>
              </a:ext>
            </a:extLst>
          </p:cNvPr>
          <p:cNvSpPr txBox="1"/>
          <p:nvPr/>
        </p:nvSpPr>
        <p:spPr>
          <a:xfrm>
            <a:off x="1490133" y="2209801"/>
            <a:ext cx="9194800" cy="3416320"/>
          </a:xfrm>
          <a:prstGeom prst="rect">
            <a:avLst/>
          </a:prstGeom>
          <a:noFill/>
        </p:spPr>
        <p:txBody>
          <a:bodyPr wrap="square" rtlCol="0">
            <a:spAutoFit/>
          </a:bodyPr>
          <a:lstStyle/>
          <a:p>
            <a:pPr marL="285750" lvl="0" indent="-285750">
              <a:buFont typeface="Arial" panose="020B0604020202020204" pitchFamily="34" charset="0"/>
              <a:buChar char="•"/>
            </a:pPr>
            <a:r>
              <a:rPr lang="en-IN" b="1" dirty="0"/>
              <a:t>Scalability Bottlenecks</a:t>
            </a:r>
            <a:r>
              <a:rPr lang="en-IN" dirty="0"/>
              <a:t>: Existing platforms rely on synchronous HTTP calls, causing service crashes during high-traffic emergency spikes.</a:t>
            </a:r>
            <a:br>
              <a:rPr lang="en-IN" dirty="0"/>
            </a:br>
            <a:endParaRPr lang="en-IN" dirty="0"/>
          </a:p>
          <a:p>
            <a:pPr marL="285750" lvl="0" indent="-285750">
              <a:buFont typeface="Arial" panose="020B0604020202020204" pitchFamily="34" charset="0"/>
              <a:buChar char="•"/>
            </a:pPr>
            <a:r>
              <a:rPr lang="en-IN" b="1" dirty="0"/>
              <a:t>Shared Data Risks</a:t>
            </a:r>
            <a:r>
              <a:rPr lang="en-IN" dirty="0"/>
              <a:t>: Common databases create tight service coupling, performance locks, and single points of failure across municipal departments.</a:t>
            </a:r>
            <a:br>
              <a:rPr lang="en-IN" dirty="0"/>
            </a:br>
            <a:endParaRPr lang="en-IN" dirty="0"/>
          </a:p>
          <a:p>
            <a:pPr marL="285750" lvl="0" indent="-285750">
              <a:buFont typeface="Arial" panose="020B0604020202020204" pitchFamily="34" charset="0"/>
              <a:buChar char="•"/>
            </a:pPr>
            <a:r>
              <a:rPr lang="en-IN" b="1" dirty="0"/>
              <a:t>Inadequate Edge Security</a:t>
            </a:r>
            <a:r>
              <a:rPr lang="en-IN" dirty="0"/>
              <a:t>: Systems lack unified, edge-level security (JWT/TLS), leaving internal microservice communications vulnerable to cyber threats.</a:t>
            </a:r>
            <a:br>
              <a:rPr lang="en-IN" dirty="0"/>
            </a:br>
            <a:endParaRPr lang="en-IN" dirty="0"/>
          </a:p>
          <a:p>
            <a:pPr marL="285750" lvl="0" indent="-285750">
              <a:buFont typeface="Arial" panose="020B0604020202020204" pitchFamily="34" charset="0"/>
              <a:buChar char="•"/>
            </a:pPr>
            <a:r>
              <a:rPr lang="en-IN" b="1" dirty="0"/>
              <a:t>Unintegrated Intelligence</a:t>
            </a:r>
            <a:r>
              <a:rPr lang="en-IN" dirty="0"/>
              <a:t>: Standalone AI/ML tools operate in isolation rather than being embedded directly into real-time, event-driven streaming pipelines (Kafka).</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and Creativity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01E0D82D-D2C5-ACE8-530C-C717BD1097AE}"/>
              </a:ext>
            </a:extLst>
          </p:cNvPr>
          <p:cNvSpPr txBox="1"/>
          <p:nvPr/>
        </p:nvSpPr>
        <p:spPr>
          <a:xfrm>
            <a:off x="1176867" y="2074333"/>
            <a:ext cx="10185399" cy="4247317"/>
          </a:xfrm>
          <a:prstGeom prst="rect">
            <a:avLst/>
          </a:prstGeom>
          <a:noFill/>
        </p:spPr>
        <p:txBody>
          <a:bodyPr wrap="square" rtlCol="0">
            <a:spAutoFit/>
          </a:bodyPr>
          <a:lstStyle/>
          <a:p>
            <a:pPr marL="285750" lvl="0" indent="-285750">
              <a:buFont typeface="Arial" panose="020B0604020202020204" pitchFamily="34" charset="0"/>
              <a:buChar char="•"/>
            </a:pPr>
            <a:r>
              <a:rPr lang="en-IN" b="1" dirty="0"/>
              <a:t>Decoupled Civic Mesh</a:t>
            </a:r>
            <a:r>
              <a:rPr lang="en-IN" dirty="0"/>
              <a:t>: </a:t>
            </a:r>
          </a:p>
          <a:p>
            <a:pPr lvl="0"/>
            <a:r>
              <a:rPr lang="en-IN" dirty="0"/>
              <a:t>Replaces fragile monolithic municipal portals with an event-driven microservices core. This guarantees uninterrupted application responsiveness and zero-downtime performance during high-traffic emergency surges.</a:t>
            </a:r>
          </a:p>
          <a:p>
            <a:pPr lvl="0"/>
            <a:endParaRPr lang="en-IN" dirty="0"/>
          </a:p>
          <a:p>
            <a:pPr marL="285750" indent="-285750">
              <a:buFont typeface="Arial" panose="020B0604020202020204" pitchFamily="34" charset="0"/>
              <a:buChar char="•"/>
            </a:pPr>
            <a:r>
              <a:rPr lang="en-IN" b="1" dirty="0"/>
              <a:t>Isolated Architecture</a:t>
            </a:r>
            <a:r>
              <a:rPr lang="en-IN" dirty="0"/>
              <a:t>: </a:t>
            </a:r>
          </a:p>
          <a:p>
            <a:r>
              <a:rPr lang="en-IN" dirty="0"/>
              <a:t>Combines dynamic Eureka routing with strict database-per-service isolation across domains. This eliminates single points of failure and prevents shared-database bottlenecks across municipal departments.</a:t>
            </a:r>
          </a:p>
          <a:p>
            <a:endParaRPr lang="en-IN" dirty="0"/>
          </a:p>
          <a:p>
            <a:pPr marL="285750" lvl="0" indent="-285750">
              <a:buFont typeface="Arial" panose="020B0604020202020204" pitchFamily="34" charset="0"/>
              <a:buChar char="•"/>
            </a:pPr>
            <a:r>
              <a:rPr lang="en-IN" b="1" dirty="0"/>
              <a:t>Continuous Resiliency</a:t>
            </a:r>
            <a:r>
              <a:rPr lang="en-IN" dirty="0"/>
              <a:t>: </a:t>
            </a:r>
          </a:p>
          <a:p>
            <a:pPr lvl="0"/>
            <a:r>
              <a:rPr lang="en-IN" dirty="0"/>
              <a:t>Automates contract validation through continuous GitHub Actions CI/CD deployment pipelines. This ensures production-grade software quality and seamless, continuous service delivery without manual intervention.</a:t>
            </a:r>
          </a:p>
          <a:p>
            <a:endParaRPr lang="en-IN" dirty="0"/>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98972-5120-2E74-D2A4-150469B3B6A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6F375A9-E31E-C61B-7445-332F70CF208E}"/>
              </a:ext>
            </a:extLst>
          </p:cNvPr>
          <p:cNvSpPr txBox="1"/>
          <p:nvPr/>
        </p:nvSpPr>
        <p:spPr>
          <a:xfrm>
            <a:off x="1935393" y="347217"/>
            <a:ext cx="8405879" cy="646331"/>
          </a:xfrm>
          <a:prstGeom prst="rect">
            <a:avLst/>
          </a:prstGeom>
          <a:noFill/>
        </p:spPr>
        <p:txBody>
          <a:bodyPr wrap="square">
            <a:spAutoFit/>
          </a:bodyPr>
          <a:lstStyle/>
          <a:p>
            <a:pPr algn="ctr"/>
            <a:r>
              <a:rPr lang="en-US" sz="3600" b="1" dirty="0"/>
              <a:t>Novelty</a:t>
            </a:r>
          </a:p>
        </p:txBody>
      </p:sp>
      <p:pic>
        <p:nvPicPr>
          <p:cNvPr id="3" name="Picture 2">
            <a:extLst>
              <a:ext uri="{FF2B5EF4-FFF2-40B4-BE49-F238E27FC236}">
                <a16:creationId xmlns:a16="http://schemas.microsoft.com/office/drawing/2014/main" id="{40E54392-17C3-F852-543D-A7BDC7E03680}"/>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9" name="Table 8">
            <a:extLst>
              <a:ext uri="{FF2B5EF4-FFF2-40B4-BE49-F238E27FC236}">
                <a16:creationId xmlns:a16="http://schemas.microsoft.com/office/drawing/2014/main" id="{94960B33-482A-D859-C8EE-46DE047FAABF}"/>
              </a:ext>
            </a:extLst>
          </p:cNvPr>
          <p:cNvGraphicFramePr>
            <a:graphicFrameLocks noGrp="1"/>
          </p:cNvGraphicFramePr>
          <p:nvPr>
            <p:extLst>
              <p:ext uri="{D42A27DB-BD31-4B8C-83A1-F6EECF244321}">
                <p14:modId xmlns:p14="http://schemas.microsoft.com/office/powerpoint/2010/main" val="4215409651"/>
              </p:ext>
            </p:extLst>
          </p:nvPr>
        </p:nvGraphicFramePr>
        <p:xfrm>
          <a:off x="1083733" y="1387446"/>
          <a:ext cx="9939868" cy="4886355"/>
        </p:xfrm>
        <a:graphic>
          <a:graphicData uri="http://schemas.openxmlformats.org/drawingml/2006/table">
            <a:tbl>
              <a:tblPr>
                <a:tableStyleId>{5C22544A-7EE6-4342-B048-85BDC9FD1C3A}</a:tableStyleId>
              </a:tblPr>
              <a:tblGrid>
                <a:gridCol w="2484967">
                  <a:extLst>
                    <a:ext uri="{9D8B030D-6E8A-4147-A177-3AD203B41FA5}">
                      <a16:colId xmlns:a16="http://schemas.microsoft.com/office/drawing/2014/main" val="1951919231"/>
                    </a:ext>
                  </a:extLst>
                </a:gridCol>
                <a:gridCol w="2484967">
                  <a:extLst>
                    <a:ext uri="{9D8B030D-6E8A-4147-A177-3AD203B41FA5}">
                      <a16:colId xmlns:a16="http://schemas.microsoft.com/office/drawing/2014/main" val="551085190"/>
                    </a:ext>
                  </a:extLst>
                </a:gridCol>
                <a:gridCol w="2484967">
                  <a:extLst>
                    <a:ext uri="{9D8B030D-6E8A-4147-A177-3AD203B41FA5}">
                      <a16:colId xmlns:a16="http://schemas.microsoft.com/office/drawing/2014/main" val="1631463202"/>
                    </a:ext>
                  </a:extLst>
                </a:gridCol>
                <a:gridCol w="2484967">
                  <a:extLst>
                    <a:ext uri="{9D8B030D-6E8A-4147-A177-3AD203B41FA5}">
                      <a16:colId xmlns:a16="http://schemas.microsoft.com/office/drawing/2014/main" val="1732971885"/>
                    </a:ext>
                  </a:extLst>
                </a:gridCol>
              </a:tblGrid>
              <a:tr h="393155">
                <a:tc>
                  <a:txBody>
                    <a:bodyPr/>
                    <a:lstStyle/>
                    <a:p>
                      <a:pPr algn="l">
                        <a:buNone/>
                      </a:pPr>
                      <a:r>
                        <a:rPr lang="en-IN" sz="1000">
                          <a:effectLst/>
                        </a:rPr>
                        <a:t>Feature Dimension</a:t>
                      </a:r>
                      <a:endParaRPr lang="en-IN" sz="1000" b="1">
                        <a:solidFill>
                          <a:srgbClr val="1F1F1F"/>
                        </a:solidFill>
                        <a:effectLst/>
                        <a:latin typeface="Google Sans"/>
                      </a:endParaRPr>
                    </a:p>
                  </a:txBody>
                  <a:tcPr marL="50015" marR="50015" marT="25008" marB="25008" anchor="ctr"/>
                </a:tc>
                <a:tc>
                  <a:txBody>
                    <a:bodyPr/>
                    <a:lstStyle/>
                    <a:p>
                      <a:pPr algn="l">
                        <a:buNone/>
                      </a:pPr>
                      <a:r>
                        <a:rPr lang="en-IN" sz="1000">
                          <a:effectLst/>
                        </a:rPr>
                        <a:t>Baseline Existing Models</a:t>
                      </a:r>
                      <a:endParaRPr lang="en-IN" sz="1000" b="1">
                        <a:solidFill>
                          <a:srgbClr val="1F1F1F"/>
                        </a:solidFill>
                        <a:effectLst/>
                        <a:latin typeface="Google Sans"/>
                      </a:endParaRPr>
                    </a:p>
                  </a:txBody>
                  <a:tcPr marL="50015" marR="50015" marT="25008" marB="25008" anchor="ctr"/>
                </a:tc>
                <a:tc>
                  <a:txBody>
                    <a:bodyPr/>
                    <a:lstStyle/>
                    <a:p>
                      <a:pPr algn="l">
                        <a:buNone/>
                      </a:pPr>
                      <a:r>
                        <a:rPr lang="en-IN" sz="1000">
                          <a:effectLst/>
                        </a:rPr>
                        <a:t>CivicPulse Architecture</a:t>
                      </a:r>
                      <a:endParaRPr lang="en-IN" sz="1000" b="1">
                        <a:solidFill>
                          <a:srgbClr val="1F1F1F"/>
                        </a:solidFill>
                        <a:effectLst/>
                        <a:latin typeface="Google Sans"/>
                      </a:endParaRPr>
                    </a:p>
                  </a:txBody>
                  <a:tcPr marL="50015" marR="50015" marT="25008" marB="25008" anchor="ctr"/>
                </a:tc>
                <a:tc>
                  <a:txBody>
                    <a:bodyPr/>
                    <a:lstStyle/>
                    <a:p>
                      <a:pPr algn="l">
                        <a:buNone/>
                      </a:pPr>
                      <a:r>
                        <a:rPr lang="en-IN" sz="1000">
                          <a:effectLst/>
                        </a:rPr>
                        <a:t>Technical Novelty &amp; Impact</a:t>
                      </a:r>
                      <a:endParaRPr lang="en-IN" sz="1000" b="1">
                        <a:solidFill>
                          <a:srgbClr val="1F1F1F"/>
                        </a:solidFill>
                        <a:effectLst/>
                        <a:latin typeface="Google Sans"/>
                      </a:endParaRPr>
                    </a:p>
                  </a:txBody>
                  <a:tcPr marL="50015" marR="50015" marT="25008" marB="25008" anchor="ctr"/>
                </a:tc>
                <a:extLst>
                  <a:ext uri="{0D108BD9-81ED-4DB2-BD59-A6C34878D82A}">
                    <a16:rowId xmlns:a16="http://schemas.microsoft.com/office/drawing/2014/main" val="2340041054"/>
                  </a:ext>
                </a:extLst>
              </a:tr>
              <a:tr h="898640">
                <a:tc>
                  <a:txBody>
                    <a:bodyPr/>
                    <a:lstStyle/>
                    <a:p>
                      <a:pPr>
                        <a:buNone/>
                      </a:pPr>
                      <a:r>
                        <a:rPr lang="en-IN" sz="1000">
                          <a:effectLst/>
                        </a:rPr>
                        <a:t>Communication Flow</a:t>
                      </a:r>
                      <a:endParaRPr lang="en-IN" sz="1000">
                        <a:solidFill>
                          <a:srgbClr val="1F1F1F"/>
                        </a:solidFill>
                        <a:effectLst/>
                        <a:latin typeface="Google Sans"/>
                      </a:endParaRPr>
                    </a:p>
                  </a:txBody>
                  <a:tcPr marL="50015" marR="50015" marT="25008" marB="25008" anchor="ctr"/>
                </a:tc>
                <a:tc>
                  <a:txBody>
                    <a:bodyPr/>
                    <a:lstStyle/>
                    <a:p>
                      <a:pPr>
                        <a:buNone/>
                      </a:pPr>
                      <a:r>
                        <a:rPr lang="en-IN" sz="1000" dirty="0">
                          <a:effectLst/>
                        </a:rPr>
                        <a:t>Synchronous REST APIs: Requests execute synchronously; portal stalls during traffic spikes.</a:t>
                      </a:r>
                      <a:endParaRPr lang="en-IN" sz="1000" dirty="0">
                        <a:solidFill>
                          <a:srgbClr val="1F1F1F"/>
                        </a:solidFill>
                        <a:effectLst/>
                        <a:latin typeface="Google Sans"/>
                      </a:endParaRPr>
                    </a:p>
                  </a:txBody>
                  <a:tcPr marL="50015" marR="50015" marT="25008" marB="25008" anchor="ctr"/>
                </a:tc>
                <a:tc>
                  <a:txBody>
                    <a:bodyPr/>
                    <a:lstStyle/>
                    <a:p>
                      <a:pPr>
                        <a:buNone/>
                      </a:pPr>
                      <a:r>
                        <a:rPr lang="en-IN" sz="1000" dirty="0">
                          <a:effectLst/>
                        </a:rPr>
                        <a:t>Asynchronous Kafka EDA: Event messaging via Apache Kafka operating in </a:t>
                      </a:r>
                      <a:r>
                        <a:rPr lang="en-IN" sz="1000" dirty="0" err="1">
                          <a:effectLst/>
                        </a:rPr>
                        <a:t>KRaft</a:t>
                      </a:r>
                      <a:r>
                        <a:rPr lang="en-IN" sz="1000" dirty="0">
                          <a:effectLst/>
                        </a:rPr>
                        <a:t> model.</a:t>
                      </a:r>
                      <a:endParaRPr lang="en-IN" sz="1000" dirty="0">
                        <a:solidFill>
                          <a:srgbClr val="1F1F1F"/>
                        </a:solidFill>
                        <a:effectLst/>
                        <a:latin typeface="Google Sans"/>
                      </a:endParaRPr>
                    </a:p>
                  </a:txBody>
                  <a:tcPr marL="50015" marR="50015" marT="25008" marB="25008" anchor="ctr"/>
                </a:tc>
                <a:tc>
                  <a:txBody>
                    <a:bodyPr/>
                    <a:lstStyle/>
                    <a:p>
                      <a:pPr>
                        <a:buNone/>
                      </a:pPr>
                      <a:r>
                        <a:rPr lang="en-IN" sz="1000" dirty="0">
                          <a:effectLst/>
                        </a:rPr>
                        <a:t>Zero Downtime: Delivers immediate submission acknowledgments while backend tasks run asynchronously.</a:t>
                      </a:r>
                      <a:endParaRPr lang="en-IN" sz="1000" dirty="0">
                        <a:solidFill>
                          <a:srgbClr val="1F1F1F"/>
                        </a:solidFill>
                        <a:effectLst/>
                        <a:latin typeface="Google Sans"/>
                      </a:endParaRPr>
                    </a:p>
                  </a:txBody>
                  <a:tcPr marL="50015" marR="50015" marT="25008" marB="25008" anchor="ctr"/>
                </a:tc>
                <a:extLst>
                  <a:ext uri="{0D108BD9-81ED-4DB2-BD59-A6C34878D82A}">
                    <a16:rowId xmlns:a16="http://schemas.microsoft.com/office/drawing/2014/main" val="1887736713"/>
                  </a:ext>
                </a:extLst>
              </a:tr>
              <a:tr h="898640">
                <a:tc>
                  <a:txBody>
                    <a:bodyPr/>
                    <a:lstStyle/>
                    <a:p>
                      <a:pPr>
                        <a:buNone/>
                      </a:pPr>
                      <a:r>
                        <a:rPr lang="en-IN" sz="1000">
                          <a:effectLst/>
                        </a:rPr>
                        <a:t>AI / ML Execution</a:t>
                      </a:r>
                      <a:endParaRPr lang="en-IN" sz="1000">
                        <a:solidFill>
                          <a:srgbClr val="1F1F1F"/>
                        </a:solidFill>
                        <a:effectLst/>
                        <a:latin typeface="Google Sans"/>
                      </a:endParaRPr>
                    </a:p>
                  </a:txBody>
                  <a:tcPr marL="50015" marR="50015" marT="25008" marB="25008" anchor="ctr"/>
                </a:tc>
                <a:tc>
                  <a:txBody>
                    <a:bodyPr/>
                    <a:lstStyle/>
                    <a:p>
                      <a:pPr>
                        <a:buNone/>
                      </a:pPr>
                      <a:r>
                        <a:rPr lang="en-IN" sz="1000" dirty="0">
                          <a:effectLst/>
                        </a:rPr>
                        <a:t>Inline Processing: ML algorithms (TF-IDF, CNNs) run inline, locking web app threads.</a:t>
                      </a:r>
                      <a:endParaRPr lang="en-IN" sz="1000" dirty="0">
                        <a:solidFill>
                          <a:srgbClr val="1F1F1F"/>
                        </a:solidFill>
                        <a:effectLst/>
                        <a:latin typeface="Google Sans"/>
                      </a:endParaRPr>
                    </a:p>
                  </a:txBody>
                  <a:tcPr marL="50015" marR="50015" marT="25008" marB="25008" anchor="ctr"/>
                </a:tc>
                <a:tc>
                  <a:txBody>
                    <a:bodyPr/>
                    <a:lstStyle/>
                    <a:p>
                      <a:pPr>
                        <a:buNone/>
                      </a:pPr>
                      <a:r>
                        <a:rPr lang="en-IN" sz="1000" dirty="0">
                          <a:effectLst/>
                        </a:rPr>
                        <a:t>Decoupled AI Launchpad: Kafka payloads stream to Python NLP (</a:t>
                      </a:r>
                      <a:r>
                        <a:rPr lang="en-IN" sz="1000" dirty="0" err="1">
                          <a:effectLst/>
                        </a:rPr>
                        <a:t>SpaCy</a:t>
                      </a:r>
                      <a:r>
                        <a:rPr lang="en-IN" sz="1000" dirty="0">
                          <a:effectLst/>
                        </a:rPr>
                        <a:t>) and CV (YOLO) services.</a:t>
                      </a:r>
                      <a:endParaRPr lang="en-IN" sz="1000" dirty="0">
                        <a:solidFill>
                          <a:srgbClr val="1F1F1F"/>
                        </a:solidFill>
                        <a:effectLst/>
                        <a:latin typeface="Google Sans"/>
                      </a:endParaRPr>
                    </a:p>
                  </a:txBody>
                  <a:tcPr marL="50015" marR="50015" marT="25008" marB="25008" anchor="ctr"/>
                </a:tc>
                <a:tc>
                  <a:txBody>
                    <a:bodyPr/>
                    <a:lstStyle/>
                    <a:p>
                      <a:pPr>
                        <a:buNone/>
                      </a:pPr>
                      <a:r>
                        <a:rPr lang="en-IN" sz="1000" dirty="0">
                          <a:effectLst/>
                        </a:rPr>
                        <a:t>Latency-Free Intelligence: Automates issue categorization and visual severity scoring without blocking UI traffic.</a:t>
                      </a:r>
                      <a:endParaRPr lang="en-IN" sz="1000" dirty="0">
                        <a:solidFill>
                          <a:srgbClr val="1F1F1F"/>
                        </a:solidFill>
                        <a:effectLst/>
                        <a:latin typeface="Google Sans"/>
                      </a:endParaRPr>
                    </a:p>
                  </a:txBody>
                  <a:tcPr marL="50015" marR="50015" marT="25008" marB="25008" anchor="ctr"/>
                </a:tc>
                <a:extLst>
                  <a:ext uri="{0D108BD9-81ED-4DB2-BD59-A6C34878D82A}">
                    <a16:rowId xmlns:a16="http://schemas.microsoft.com/office/drawing/2014/main" val="2720642425"/>
                  </a:ext>
                </a:extLst>
              </a:tr>
              <a:tr h="898640">
                <a:tc>
                  <a:txBody>
                    <a:bodyPr/>
                    <a:lstStyle/>
                    <a:p>
                      <a:pPr>
                        <a:buNone/>
                      </a:pPr>
                      <a:r>
                        <a:rPr lang="en-IN" sz="1000">
                          <a:effectLst/>
                        </a:rPr>
                        <a:t>Data Isolation</a:t>
                      </a:r>
                      <a:endParaRPr lang="en-IN" sz="1000">
                        <a:solidFill>
                          <a:srgbClr val="1F1F1F"/>
                        </a:solidFill>
                        <a:effectLst/>
                        <a:latin typeface="Google Sans"/>
                      </a:endParaRPr>
                    </a:p>
                  </a:txBody>
                  <a:tcPr marL="50015" marR="50015" marT="25008" marB="25008" anchor="ctr"/>
                </a:tc>
                <a:tc>
                  <a:txBody>
                    <a:bodyPr/>
                    <a:lstStyle/>
                    <a:p>
                      <a:pPr>
                        <a:buNone/>
                      </a:pPr>
                      <a:r>
                        <a:rPr lang="en-IN" sz="1000" dirty="0">
                          <a:effectLst/>
                        </a:rPr>
                        <a:t>Centralized Database: Shared databases create lock contention and single points of failure.</a:t>
                      </a:r>
                      <a:endParaRPr lang="en-IN" sz="1000" dirty="0">
                        <a:solidFill>
                          <a:srgbClr val="1F1F1F"/>
                        </a:solidFill>
                        <a:effectLst/>
                        <a:latin typeface="Google Sans"/>
                      </a:endParaRPr>
                    </a:p>
                  </a:txBody>
                  <a:tcPr marL="50015" marR="50015" marT="25008" marB="25008" anchor="ctr"/>
                </a:tc>
                <a:tc>
                  <a:txBody>
                    <a:bodyPr/>
                    <a:lstStyle/>
                    <a:p>
                      <a:pPr>
                        <a:buNone/>
                      </a:pPr>
                      <a:r>
                        <a:rPr lang="en-IN" sz="1000" dirty="0">
                          <a:effectLst/>
                        </a:rPr>
                        <a:t>Database-per-Service: Isolated PostgreSQL instances (</a:t>
                      </a:r>
                      <a:r>
                        <a:rPr lang="en-IN" sz="500" dirty="0" err="1">
                          <a:effectLst/>
                        </a:rPr>
                        <a:t>civicpulse_auth_db</a:t>
                      </a:r>
                      <a:r>
                        <a:rPr lang="en-IN" sz="1000" dirty="0">
                          <a:effectLst/>
                        </a:rPr>
                        <a:t>, </a:t>
                      </a:r>
                      <a:r>
                        <a:rPr lang="en-IN" sz="500" dirty="0" err="1">
                          <a:effectLst/>
                        </a:rPr>
                        <a:t>civicpulse_issue_db</a:t>
                      </a:r>
                      <a:r>
                        <a:rPr lang="en-IN" sz="1000" dirty="0">
                          <a:effectLst/>
                        </a:rPr>
                        <a:t>).</a:t>
                      </a:r>
                      <a:endParaRPr lang="en-IN" sz="1000" dirty="0">
                        <a:solidFill>
                          <a:srgbClr val="1F1F1F"/>
                        </a:solidFill>
                        <a:effectLst/>
                        <a:latin typeface="Google Sans"/>
                      </a:endParaRPr>
                    </a:p>
                  </a:txBody>
                  <a:tcPr marL="50015" marR="50015" marT="25008" marB="25008" anchor="ctr"/>
                </a:tc>
                <a:tc>
                  <a:txBody>
                    <a:bodyPr/>
                    <a:lstStyle/>
                    <a:p>
                      <a:pPr>
                        <a:buNone/>
                      </a:pPr>
                      <a:r>
                        <a:rPr lang="en-IN" sz="1000" dirty="0">
                          <a:effectLst/>
                        </a:rPr>
                        <a:t>Domain Autonomy: Prevents cross-service failures and database locks across municipal departments.</a:t>
                      </a:r>
                      <a:endParaRPr lang="en-IN" sz="1000" dirty="0">
                        <a:solidFill>
                          <a:srgbClr val="1F1F1F"/>
                        </a:solidFill>
                        <a:effectLst/>
                        <a:latin typeface="Google Sans"/>
                      </a:endParaRPr>
                    </a:p>
                  </a:txBody>
                  <a:tcPr marL="50015" marR="50015" marT="25008" marB="25008" anchor="ctr"/>
                </a:tc>
                <a:extLst>
                  <a:ext uri="{0D108BD9-81ED-4DB2-BD59-A6C34878D82A}">
                    <a16:rowId xmlns:a16="http://schemas.microsoft.com/office/drawing/2014/main" val="3940161404"/>
                  </a:ext>
                </a:extLst>
              </a:tr>
              <a:tr h="898640">
                <a:tc>
                  <a:txBody>
                    <a:bodyPr/>
                    <a:lstStyle/>
                    <a:p>
                      <a:pPr>
                        <a:buNone/>
                      </a:pPr>
                      <a:r>
                        <a:rPr lang="en-IN" sz="1000">
                          <a:effectLst/>
                        </a:rPr>
                        <a:t>Geospatial Analytics</a:t>
                      </a:r>
                      <a:endParaRPr lang="en-IN" sz="1000">
                        <a:solidFill>
                          <a:srgbClr val="1F1F1F"/>
                        </a:solidFill>
                        <a:effectLst/>
                        <a:latin typeface="Google Sans"/>
                      </a:endParaRPr>
                    </a:p>
                  </a:txBody>
                  <a:tcPr marL="50015" marR="50015" marT="25008" marB="25008" anchor="ctr"/>
                </a:tc>
                <a:tc>
                  <a:txBody>
                    <a:bodyPr/>
                    <a:lstStyle/>
                    <a:p>
                      <a:pPr>
                        <a:buNone/>
                      </a:pPr>
                      <a:r>
                        <a:rPr lang="en-IN" sz="1000" dirty="0">
                          <a:effectLst/>
                        </a:rPr>
                        <a:t>Direct Database Queries: Runs heavy analytical SQL queries against primary tables.</a:t>
                      </a:r>
                      <a:endParaRPr lang="en-IN" sz="1000" dirty="0">
                        <a:solidFill>
                          <a:srgbClr val="1F1F1F"/>
                        </a:solidFill>
                        <a:effectLst/>
                        <a:latin typeface="Google Sans"/>
                      </a:endParaRPr>
                    </a:p>
                  </a:txBody>
                  <a:tcPr marL="50015" marR="50015" marT="25008" marB="25008" anchor="ctr"/>
                </a:tc>
                <a:tc>
                  <a:txBody>
                    <a:bodyPr/>
                    <a:lstStyle/>
                    <a:p>
                      <a:pPr>
                        <a:buNone/>
                      </a:pPr>
                      <a:r>
                        <a:rPr lang="en-IN" sz="1000" dirty="0">
                          <a:effectLst/>
                        </a:rPr>
                        <a:t>Passive Stream Workers: Heatmap microservices passively monitor Kafka event streams.</a:t>
                      </a:r>
                      <a:endParaRPr lang="en-IN" sz="1000" dirty="0">
                        <a:solidFill>
                          <a:srgbClr val="1F1F1F"/>
                        </a:solidFill>
                        <a:effectLst/>
                        <a:latin typeface="Google Sans"/>
                      </a:endParaRPr>
                    </a:p>
                  </a:txBody>
                  <a:tcPr marL="50015" marR="50015" marT="25008" marB="25008" anchor="ctr"/>
                </a:tc>
                <a:tc>
                  <a:txBody>
                    <a:bodyPr/>
                    <a:lstStyle/>
                    <a:p>
                      <a:pPr>
                        <a:buNone/>
                      </a:pPr>
                      <a:r>
                        <a:rPr lang="en-IN" sz="1000" dirty="0">
                          <a:effectLst/>
                        </a:rPr>
                        <a:t>Zero Operational Load: Plots real-time spatial heatmaps with zero query burden on transactional data.</a:t>
                      </a:r>
                      <a:endParaRPr lang="en-IN" sz="1000" dirty="0">
                        <a:solidFill>
                          <a:srgbClr val="1F1F1F"/>
                        </a:solidFill>
                        <a:effectLst/>
                        <a:latin typeface="Google Sans"/>
                      </a:endParaRPr>
                    </a:p>
                  </a:txBody>
                  <a:tcPr marL="50015" marR="50015" marT="25008" marB="25008" anchor="ctr"/>
                </a:tc>
                <a:extLst>
                  <a:ext uri="{0D108BD9-81ED-4DB2-BD59-A6C34878D82A}">
                    <a16:rowId xmlns:a16="http://schemas.microsoft.com/office/drawing/2014/main" val="2449211913"/>
                  </a:ext>
                </a:extLst>
              </a:tr>
              <a:tr h="898640">
                <a:tc>
                  <a:txBody>
                    <a:bodyPr/>
                    <a:lstStyle/>
                    <a:p>
                      <a:pPr>
                        <a:buNone/>
                      </a:pPr>
                      <a:r>
                        <a:rPr lang="en-IN" sz="1000">
                          <a:effectLst/>
                        </a:rPr>
                        <a:t>Edge Security &amp; CI/CD</a:t>
                      </a:r>
                      <a:endParaRPr lang="en-IN" sz="1000">
                        <a:solidFill>
                          <a:srgbClr val="1F1F1F"/>
                        </a:solidFill>
                        <a:effectLst/>
                        <a:latin typeface="Google Sans"/>
                      </a:endParaRPr>
                    </a:p>
                  </a:txBody>
                  <a:tcPr marL="50015" marR="50015" marT="25008" marB="25008" anchor="ctr"/>
                </a:tc>
                <a:tc>
                  <a:txBody>
                    <a:bodyPr/>
                    <a:lstStyle/>
                    <a:p>
                      <a:pPr>
                        <a:buNone/>
                      </a:pPr>
                      <a:r>
                        <a:rPr lang="en-IN" sz="1000" dirty="0">
                          <a:effectLst/>
                        </a:rPr>
                        <a:t>Minimal Edge Protection: Unencrypted inter-service calls and manual deployments.</a:t>
                      </a:r>
                      <a:endParaRPr lang="en-IN" sz="1000" dirty="0">
                        <a:solidFill>
                          <a:srgbClr val="1F1F1F"/>
                        </a:solidFill>
                        <a:effectLst/>
                        <a:latin typeface="Google Sans"/>
                      </a:endParaRPr>
                    </a:p>
                  </a:txBody>
                  <a:tcPr marL="50015" marR="50015" marT="25008" marB="25008" anchor="ctr"/>
                </a:tc>
                <a:tc>
                  <a:txBody>
                    <a:bodyPr/>
                    <a:lstStyle/>
                    <a:p>
                      <a:pPr>
                        <a:buNone/>
                      </a:pPr>
                      <a:r>
                        <a:rPr lang="en-IN" sz="1000" dirty="0">
                          <a:effectLst/>
                        </a:rPr>
                        <a:t>Layered Security &amp; CI/CD: Spring Cloud Gateway, JWT, </a:t>
                      </a:r>
                      <a:r>
                        <a:rPr lang="en-IN" sz="1000" dirty="0" err="1">
                          <a:effectLst/>
                        </a:rPr>
                        <a:t>BCrypt</a:t>
                      </a:r>
                      <a:r>
                        <a:rPr lang="en-IN" sz="1000" dirty="0">
                          <a:effectLst/>
                        </a:rPr>
                        <a:t>, TLS, and GitHub Actions CI/CD.</a:t>
                      </a:r>
                      <a:endParaRPr lang="en-IN" sz="1000" dirty="0">
                        <a:solidFill>
                          <a:srgbClr val="1F1F1F"/>
                        </a:solidFill>
                        <a:effectLst/>
                        <a:latin typeface="Google Sans"/>
                      </a:endParaRPr>
                    </a:p>
                  </a:txBody>
                  <a:tcPr marL="50015" marR="50015" marT="25008" marB="25008" anchor="ctr"/>
                </a:tc>
                <a:tc>
                  <a:txBody>
                    <a:bodyPr/>
                    <a:lstStyle/>
                    <a:p>
                      <a:pPr>
                        <a:buNone/>
                      </a:pPr>
                      <a:r>
                        <a:rPr lang="en-IN" sz="1000" dirty="0">
                          <a:effectLst/>
                        </a:rPr>
                        <a:t>Production Resiliency: Guarantees </a:t>
                      </a:r>
                      <a:r>
                        <a:rPr lang="en-IN" sz="1000" dirty="0" err="1">
                          <a:effectLst/>
                        </a:rPr>
                        <a:t>defense</a:t>
                      </a:r>
                      <a:r>
                        <a:rPr lang="en-IN" sz="1000" dirty="0">
                          <a:effectLst/>
                        </a:rPr>
                        <a:t>-in-depth protection and automated contract validation</a:t>
                      </a:r>
                      <a:endParaRPr lang="en-IN" sz="1000" dirty="0">
                        <a:solidFill>
                          <a:srgbClr val="1F1F1F"/>
                        </a:solidFill>
                        <a:effectLst/>
                        <a:latin typeface="Google Sans"/>
                      </a:endParaRPr>
                    </a:p>
                  </a:txBody>
                  <a:tcPr marL="50015" marR="50015" marT="25008" marB="25008" anchor="ctr"/>
                </a:tc>
                <a:extLst>
                  <a:ext uri="{0D108BD9-81ED-4DB2-BD59-A6C34878D82A}">
                    <a16:rowId xmlns:a16="http://schemas.microsoft.com/office/drawing/2014/main" val="420471695"/>
                  </a:ext>
                </a:extLst>
              </a:tr>
            </a:tbl>
          </a:graphicData>
        </a:graphic>
      </p:graphicFrame>
    </p:spTree>
    <p:extLst>
      <p:ext uri="{BB962C8B-B14F-4D97-AF65-F5344CB8AC3E}">
        <p14:creationId xmlns:p14="http://schemas.microsoft.com/office/powerpoint/2010/main" val="2229298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262866" y="1743891"/>
            <a:ext cx="10235836" cy="4524315"/>
          </a:xfrm>
          <a:prstGeom prst="rect">
            <a:avLst/>
          </a:prstGeom>
          <a:noFill/>
        </p:spPr>
        <p:txBody>
          <a:bodyPr wrap="square" rtlCol="0">
            <a:spAutoFit/>
          </a:bodyPr>
          <a:lstStyle/>
          <a:p>
            <a:r>
              <a:rPr lang="en-IN" b="1" dirty="0"/>
              <a:t>Feasibility Analysis</a:t>
            </a:r>
            <a:endParaRPr lang="en-IN" dirty="0"/>
          </a:p>
          <a:p>
            <a:pPr marL="285750" lvl="0" indent="-285750">
              <a:buFont typeface="Arial" panose="020B0604020202020204" pitchFamily="34" charset="0"/>
              <a:buChar char="•"/>
            </a:pPr>
            <a:r>
              <a:rPr lang="en-IN" b="1" dirty="0"/>
              <a:t>Technical</a:t>
            </a:r>
            <a:r>
              <a:rPr lang="en-IN" dirty="0"/>
              <a:t>: Leverages proven, open-source stack (Spring Boot, Kafka, Eureka) with low risk.</a:t>
            </a:r>
          </a:p>
          <a:p>
            <a:pPr marL="285750" lvl="0" indent="-285750">
              <a:buFont typeface="Arial" panose="020B0604020202020204" pitchFamily="34" charset="0"/>
              <a:buChar char="•"/>
            </a:pPr>
            <a:r>
              <a:rPr lang="en-IN" b="1" dirty="0"/>
              <a:t>Operational</a:t>
            </a:r>
            <a:r>
              <a:rPr lang="en-IN" dirty="0"/>
              <a:t>: Simplifies civic workflows via automated incident routing and minimal manual training.</a:t>
            </a:r>
          </a:p>
          <a:p>
            <a:pPr marL="285750" lvl="0" indent="-285750">
              <a:buFont typeface="Arial" panose="020B0604020202020204" pitchFamily="34" charset="0"/>
              <a:buChar char="•"/>
            </a:pPr>
            <a:r>
              <a:rPr lang="en-IN" b="1" dirty="0"/>
              <a:t>Economic</a:t>
            </a:r>
            <a:r>
              <a:rPr lang="en-IN" dirty="0"/>
              <a:t>: Reduces long-term infrastructure costs using open-source tools and cloud auto-scaling.</a:t>
            </a:r>
          </a:p>
          <a:p>
            <a:endParaRPr lang="en-IN" b="1" dirty="0"/>
          </a:p>
          <a:p>
            <a:r>
              <a:rPr lang="en-IN" b="1" dirty="0"/>
              <a:t>Project Plan</a:t>
            </a:r>
            <a:endParaRPr lang="en-IN" dirty="0"/>
          </a:p>
          <a:p>
            <a:pPr marL="285750" lvl="0" indent="-285750">
              <a:buFont typeface="Arial" panose="020B0604020202020204" pitchFamily="34" charset="0"/>
              <a:buChar char="•"/>
            </a:pPr>
            <a:r>
              <a:rPr lang="en-IN" b="1" dirty="0"/>
              <a:t>Phase 1 (Setup &amp; Specs)</a:t>
            </a:r>
            <a:r>
              <a:rPr lang="en-IN" dirty="0"/>
              <a:t>: Requirements gathering, API design, Jira board setup, and core microservice scaffolding.</a:t>
            </a:r>
          </a:p>
          <a:p>
            <a:pPr marL="285750" lvl="0" indent="-285750">
              <a:buFont typeface="Arial" panose="020B0604020202020204" pitchFamily="34" charset="0"/>
              <a:buChar char="•"/>
            </a:pPr>
            <a:r>
              <a:rPr lang="en-IN" b="1" dirty="0"/>
              <a:t>Phase 2 (Core Build)</a:t>
            </a:r>
            <a:r>
              <a:rPr lang="en-IN" dirty="0"/>
              <a:t>: Spring Cloud Gateway integration, Kafka event streaming setup, and database-per-service isolated deployment.</a:t>
            </a:r>
          </a:p>
          <a:p>
            <a:pPr marL="285750" lvl="0" indent="-285750">
              <a:buFont typeface="Arial" panose="020B0604020202020204" pitchFamily="34" charset="0"/>
              <a:buChar char="•"/>
            </a:pPr>
            <a:r>
              <a:rPr lang="en-IN" b="1" dirty="0"/>
              <a:t>Phase 3 (Security &amp; AI)</a:t>
            </a:r>
            <a:r>
              <a:rPr lang="en-IN" dirty="0"/>
              <a:t>: JWT edge security implementation, TLS integration, and ML deduplication/categorization service inclusion.</a:t>
            </a:r>
          </a:p>
          <a:p>
            <a:pPr marL="285750" lvl="0" indent="-285750">
              <a:buFont typeface="Arial" panose="020B0604020202020204" pitchFamily="34" charset="0"/>
              <a:buChar char="•"/>
            </a:pPr>
            <a:r>
              <a:rPr lang="en-IN" b="1" dirty="0"/>
              <a:t>Phase 4 (Testing &amp; CI/CD)</a:t>
            </a:r>
            <a:r>
              <a:rPr lang="en-IN" dirty="0"/>
              <a:t>: JUnit 5 integration testing, GitHub Actions automated CI/CD pipeline setup, and performance benchmarking.</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TotalTime>
  <Words>1160</Words>
  <Application>Microsoft Office PowerPoint</Application>
  <PresentationFormat>Widescreen</PresentationFormat>
  <Paragraphs>120</Paragraphs>
  <Slides>9</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vt:i4>
      </vt:variant>
    </vt:vector>
  </HeadingPairs>
  <TitlesOfParts>
    <vt:vector size="18" baseType="lpstr">
      <vt:lpstr>Aptos</vt:lpstr>
      <vt:lpstr>Aptos Display</vt:lpstr>
      <vt:lpstr>Arial</vt:lpstr>
      <vt:lpstr>Calibri</vt:lpstr>
      <vt:lpstr>Calibri Light</vt:lpstr>
      <vt:lpstr>Google Sans</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Dhanush P</cp:lastModifiedBy>
  <cp:revision>30</cp:revision>
  <dcterms:created xsi:type="dcterms:W3CDTF">2026-08-08T06:33:56Z</dcterms:created>
  <dcterms:modified xsi:type="dcterms:W3CDTF">2026-09-24T08:28:31Z</dcterms:modified>
</cp:coreProperties>
</file>